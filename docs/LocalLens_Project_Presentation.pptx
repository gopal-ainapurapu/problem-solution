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5303520" cy="384048"/>
          </a:xfrm>
          <a:prstGeom prst="roundRect">
            <a:avLst>
              <a:gd name="adj" fmla="val 47619"/>
            </a:avLst>
          </a:prstGeom>
          <a:solidFill>
            <a:srgbClr val="24352D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60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TALENTSPRINT FULL-STACK WEB DEVELOPMENT REVIEW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LocalLens.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D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Community-Based Civic Issue Reporting &amp; Management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0698480" cy="1371600"/>
          </a:xfrm>
          <a:prstGeom prst="rect">
            <a:avLst/>
          </a:prstGeom>
          <a:solidFill>
            <a:srgbClr val="1C2621"/>
          </a:solidFill>
          <a:ln w="19050">
            <a:solidFill>
              <a:srgbClr val="C49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375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MERN platform connecting Citizens, Municipal Administrators, and Field Volunteers to report, verify, assign, and resolve local public infrastructure problems with verified proof, 5-stage audit logging, and private team collaboration workspaces.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Gopal Ainapurapu • Paavan Thota • Sri Charan Sangem   |   Cohort: FSDAI-1   |   Nov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React 19 • Node.js Express 5 • MongoDB Mongoose • Leaflet GPS • Socket.IO • Recharts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</a:t>
            </a:r>
            <a:pPr indent="0" marL="0">
              <a:buNone/>
            </a:pPr>
            <a:r>
              <a:rPr lang="en-US" sz="10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TalentSprint FSDAI-1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Civic Challenges &amp; Proposed Solution Pillars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1C2621"/>
          </a:solidFill>
          <a:ln w="12700">
            <a:solidFill>
              <a:srgbClr val="3A24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Real-World Civic Challenges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Frequent Public Hazards: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potholes, sewage overflows, uncleared waste, and unlit roads pose health &amp; safety risks.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"Black Box" Portal: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receive zero visibility into whether their grievances were viewed or assigned.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Verifiable Audit Proof: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closed on paper without physical inspection or completion proof.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Blind Volunteer Dispatch: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visibility into volunteer skills, locations, and coordinates.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389120"/>
          </a:xfrm>
          <a:prstGeom prst="rect">
            <a:avLst/>
          </a:prstGeom>
          <a:solidFill>
            <a:srgbClr val="1C2621"/>
          </a:solidFill>
          <a:ln w="12700">
            <a:solidFill>
              <a:srgbClr val="243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D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Proposed Solution Pillars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Citizen Empowerment
</a:t>
            </a:r>
            <a:pPr indent="0" marL="0">
              <a:buNone/>
            </a:pPr>
            <a:r>
              <a:rPr lang="en-US" sz="11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GPS map pin-drop, live 5-stage stepper, and one-click issue sharing.
</a:t>
            </a:r>
            <a:pPr indent="0" marL="0">
              <a:buNone/>
            </a:pPr>
            <a:r>
              <a:rPr lang="en-US" sz="11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Admin Command &amp; Smart Dispatch
</a:t>
            </a:r>
            <a:pPr indent="0" marL="0">
              <a:buNone/>
            </a:pPr>
            <a:r>
              <a:rPr lang="en-US" sz="11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triage queue, proximity-based volunteer scanning, and Recharts visual analytics.
</a:t>
            </a:r>
            <a:pPr indent="0" marL="0">
              <a:buNone/>
            </a:pPr>
            <a:r>
              <a:rPr lang="en-US" sz="11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Field Volunteer Hub &amp; Workspaces
</a:t>
            </a:r>
            <a:pPr indent="0" marL="0">
              <a:buNone/>
            </a:pPr>
            <a:r>
              <a:rPr lang="en-US" sz="11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tasks discovery, assignment requests, team invitations, and dedicated private workspaces with Socket.IO.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</a:t>
            </a:r>
            <a:pPr indent="0" marL="0">
              <a:buNone/>
            </a:pPr>
            <a:r>
              <a:rPr lang="en-US" sz="10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TalentSprint FSDAI-1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Database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MERN Implementation with 2dsphere Geospatial Indexing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337560" cy="4389120"/>
          </a:xfrm>
          <a:prstGeom prst="rect">
            <a:avLst/>
          </a:prstGeom>
          <a:solidFill>
            <a:srgbClr val="1C262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55"/>
                </a:solidFill>
              </a:rPr>
              <a:t>Frontend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971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19.2.8: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rendering, modern hooks, AuthContext.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 &amp; React-Leaflet 5.0: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map rendering, click-to-pin, reverse geocoding.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 3.10.1: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analytics charts (bars, doughnut).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Client: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notifications &amp; private chat.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37560" cy="4389120"/>
          </a:xfrm>
          <a:prstGeom prst="rect">
            <a:avLst/>
          </a:prstGeom>
          <a:solidFill>
            <a:srgbClr val="1C262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55"/>
                </a:solidFill>
              </a:rPr>
              <a:t>Backend &amp; Security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2971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 5.3.0 &amp; Node.js: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REST routing, clean middleware pipeline.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4.8.4 Server: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user rooms &amp; team:ID chat rooms.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 Engine: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tokens, bcryptjs (12 rounds).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Hardening: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headers, CORS policies, express-rate-limit.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337560" cy="4389120"/>
          </a:xfrm>
          <a:prstGeom prst="rect">
            <a:avLst/>
          </a:prstGeom>
          <a:solidFill>
            <a:srgbClr val="1C262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55"/>
                </a:solidFill>
              </a:rPr>
              <a:t>MongoDB Schemas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057400"/>
            <a:ext cx="2971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2dsphere coordinates, role, skills, availability.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Point, priority, team size, checklist.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VolunteerRequest: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expressions of interest, distance in km.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TeamInvitation &amp; TeamMessage: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invites and private team chat logs.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</a:t>
            </a:r>
            <a:pPr indent="0" marL="0">
              <a:buNone/>
            </a:pPr>
            <a:r>
              <a:rPr lang="en-US" sz="10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TalentSprint FSDAI-1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Architecture &amp; End-to-End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Audit Logging &amp; Bi-Directional Event Dispatch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60320" cy="2377440"/>
          </a:xfrm>
          <a:prstGeom prst="rect">
            <a:avLst/>
          </a:prstGeom>
          <a:solidFill>
            <a:srgbClr val="1C2621"/>
          </a:solidFill>
          <a:ln w="25400">
            <a:solidFill>
              <a:srgbClr val="28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Presentation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SPA, Vite bundler, Leaflet GPS mapping, Socket.io client listener.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560320" cy="2377440"/>
          </a:xfrm>
          <a:prstGeom prst="rect">
            <a:avLst/>
          </a:prstGeom>
          <a:solidFill>
            <a:srgbClr val="1C2621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Gateway &amp; Security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0574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on port 5001, Helmet security headers, CORS origin checks, Rate-Limiting.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560320" cy="2377440"/>
          </a:xfrm>
          <a:prstGeom prst="rect">
            <a:avLst/>
          </a:prstGeom>
          <a:solidFill>
            <a:srgbClr val="1C2621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Business Controllers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0574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Team Formation, Direct Auth, Scoped Socket.IO Rooms (user:ID &amp; team:ID).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23960" y="1463040"/>
            <a:ext cx="2560320" cy="2377440"/>
          </a:xfrm>
          <a:prstGeom prst="rect">
            <a:avLst/>
          </a:prstGeom>
          <a:solidFill>
            <a:srgbClr val="1C2621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Persistence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0" y="20574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with 2dsphere indexes, Mongoose schemas, Cloudinary evidence CDN.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652760" cy="1737360"/>
          </a:xfrm>
          <a:prstGeom prst="rect">
            <a:avLst/>
          </a:prstGeom>
          <a:solidFill>
            <a:srgbClr val="1C2621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976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55"/>
                </a:solidFill>
              </a:rPr>
              <a:t>Synchronous Audit &amp; Notification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state transition synchronously appends an immutable entry to statusHistory, recording the actor ID, role, and context note. Simultaneously, a persistent Notification document is saved to MongoDB and pushed in real-time over Socket.IO to the user’s personal device room, incrementing their unread badge instantly.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</a:t>
            </a:r>
            <a:pPr indent="0" marL="0">
              <a:buNone/>
            </a:pPr>
            <a:r>
              <a:rPr lang="en-US" sz="10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TalentSprint FSDAI-1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Issue Lifecycle &amp; State Machine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Role-Bound Transitions and Verification Gates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C2621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9A55"/>
                </a:solidFill>
              </a:rPr>
              <a:t>Stage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with GPS coordinates and images.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4630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C2621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6002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9A55"/>
                </a:solidFill>
              </a:rPr>
              <a:t>Stage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71800" y="18745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2402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validates authenticity; rejects spam with note.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C2621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6002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9A55"/>
                </a:solidFill>
              </a:rPr>
              <a:t>Stage 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0" y="18745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 to volunteer or multi-member team.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14630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C2621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002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9A55"/>
                </a:solidFill>
              </a:rPr>
              <a:t>Stage 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69480" y="18745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22402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marks on site; active work begins.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0" y="146304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1C2621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16002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9A55"/>
                </a:solidFill>
              </a:rPr>
              <a:t>Stage 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418320" y="18745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64040" y="22402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resolution notes &amp; proof photos submitted.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749040"/>
            <a:ext cx="10652760" cy="2103120"/>
          </a:xfrm>
          <a:prstGeom prst="rect">
            <a:avLst/>
          </a:prstGeom>
          <a:solidFill>
            <a:srgbClr val="1C2621"/>
          </a:solidFill>
          <a:ln w="12700">
            <a:solidFill>
              <a:srgbClr val="2435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886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9A55"/>
                </a:solidFill>
              </a:rPr>
              <a:t>Enforced Business Rules &amp; Integrity Constraints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Direct Jump to Resolved: 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cannot skip from Assigned directly to Resolved without first marking In-Progress upon physical site arrival.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Mandatory Evidence Proof: 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an issue requires non-empty resolution notes detailing actions taken and optional completion photos.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Terminal Rejection Protocol: 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reject Pending/Verified issues with a mandatory reason. Once resolved, reports cannot be rejected.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Immutable Audit Trail: 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writes an append-only audit entry. History cannot be modified or cleared.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</a:t>
            </a:r>
            <a:pPr indent="0" marL="0">
              <a:buNone/>
            </a:pPr>
            <a:r>
              <a:rPr lang="en-US" sz="10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TalentSprint FSDAI-1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Citizen, Volunteer &amp; Administrator Portals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Interfaces Tailored to Each Stakeholder Persona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29000" cy="4389120"/>
          </a:xfrm>
          <a:prstGeom prst="rect">
            <a:avLst/>
          </a:prstGeom>
          <a:solidFill>
            <a:srgbClr val="1C2621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Citizen Portal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Leaflet click-to-pin map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Reverse geocoding to street address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tagging (Urgent, High, Medium, Low)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Cards view &amp; fullscreen community map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native share &amp; clipboard link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dashboard with 5-stage stepper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29000" cy="4389120"/>
          </a:xfrm>
          <a:prstGeom prst="rect">
            <a:avLst/>
          </a:prstGeom>
          <a:solidFill>
            <a:srgbClr val="1C2621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45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🛠️ Volunteer Hub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availability switch (Available / Paused)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 Tasks board with distance in km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assignment requests with notes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 / Decline team invitations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team workspaces with chat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resolution submission with proof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29000" cy="4389120"/>
          </a:xfrm>
          <a:prstGeom prst="rect">
            <a:avLst/>
          </a:prstGeom>
          <a:solidFill>
            <a:srgbClr val="1C2621"/>
          </a:solidFill>
          <a:ln w="19050">
            <a:solidFill>
              <a:srgbClr val="C49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645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👑 Admin Command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210312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 queue to filter fake reports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Nearby volunteer discovery with radius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Multi-member team dispatch (e.g. 5 members)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 analytics (category, status, SLA)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Municipal CSV compliance export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approval &amp; evidence audit
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</a:t>
            </a:r>
            <a:pPr indent="0" marL="0">
              <a:buNone/>
            </a:pPr>
            <a:r>
              <a:rPr lang="en-US" sz="10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TalentSprint FSDAI-1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Team Formation &amp; Private Group Workspaces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Proximity Dispatch and Scoped Socket.IO Collaboration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1C2621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9A55"/>
                </a:solidFill>
              </a:rPr>
              <a:t>👥 Smart Nearby Volunteer Recruitment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Team Capacity: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set team size (e.g. 5 members) and recruitment radius (e.g. 15 km).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Geospatial Proximity Scan: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calculates real-time distance in km to available nearby volunteers.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Targeted Invitations: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notify candidates; volunteers explicitly accept or decline.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Atomic Capacity Enforcement: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atomically blocks any 6th member from joining a 5-member team.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389120"/>
          </a:xfrm>
          <a:prstGeom prst="rect">
            <a:avLst/>
          </a:prstGeom>
          <a:solidFill>
            <a:srgbClr val="1C2621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D8BA"/>
                </a:solidFill>
              </a:rPr>
              <a:t>💬 Dedicated Private Team Workspace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Scoped Socket.IO Real-Time Chat: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room team:REPORT_ID authenticated with JWT token on connection.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Privacy Guarantee: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confirmed team members and coordinator can enter. Unrelated users are denied.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Coordination Subtask Checklist: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task items with checkboxes and live completion percentage bar.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Dispatch Logistics &amp; Review:
</a:t>
            </a:r>
            <a:pPr indent="0" marL="0">
              <a:buNone/>
            </a:pPr>
            <a:r>
              <a:rPr lang="en-US" sz="105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point, schedule, and evidence submission with coordinator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</a:t>
            </a:r>
            <a:pPr indent="0" marL="0">
              <a:buNone/>
            </a:pPr>
            <a:r>
              <a:rPr lang="en-US" sz="10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TalentSprint FSDAI-1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Methodology &amp; 100% Verified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Suite and Production Verification 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29000" cy="822960"/>
          </a:xfrm>
          <a:prstGeom prst="rect">
            <a:avLst/>
          </a:prstGeom>
          <a:solidFill>
            <a:srgbClr val="1C2621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5A0"/>
                </a:solidFill>
              </a:rPr>
              <a:t>Client ESLint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D8BA"/>
                </a:solidFill>
              </a:rPr>
              <a:t>0 Errors, 0 Warnings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29000" cy="822960"/>
          </a:xfrm>
          <a:prstGeom prst="rect">
            <a:avLst/>
          </a:prstGeom>
          <a:solidFill>
            <a:srgbClr val="1C2621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5544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5A0"/>
                </a:solidFill>
              </a:rPr>
              <a:t>Client Vite Build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26280" y="1783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D8BA"/>
                </a:solidFill>
              </a:rPr>
              <a:t>Built in 691 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29000" cy="822960"/>
          </a:xfrm>
          <a:prstGeom prst="rect">
            <a:avLst/>
          </a:prstGeom>
          <a:solidFill>
            <a:srgbClr val="1C2621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5544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5A0"/>
                </a:solidFill>
              </a:rPr>
              <a:t>Server Syntax Check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38160" y="1783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D8BA"/>
                </a:solidFill>
              </a:rPr>
              <a:t>Clean (node --check)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1065276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672084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49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49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49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A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&amp; login create user and issue JWT without OTP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D8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Password Reset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A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Accepts email and newPassword, hashes with bcryptjs, increments tokenVersion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D8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Report Creation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A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/api/reports stores GeoJSON coordinates and priority 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D8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Capacity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A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 capacity of 2; 3rd volunteer join attempt is atomically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D8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Team Space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A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members authorized; unrelated volunteer requests return 403 Forbidden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D8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LocalLens </a:t>
            </a:r>
            <a:pPr indent="0" marL="0">
              <a:buNone/>
            </a:pPr>
            <a:r>
              <a:rPr lang="en-US" sz="1000" dirty="0">
                <a:solidFill>
                  <a:srgbClr val="9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TalentSprint FSDAI-1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Roles, Execution Commands &amp; Test Credentials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FSDAI-1 Cohort Engineering Review &amp; Universal Demo Access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1C2621"/>
          </a:solidFill>
          <a:ln w="12700">
            <a:solidFill>
              <a:srgbClr val="C49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55"/>
                </a:solidFill>
              </a:rPr>
              <a:t>🔑 Seeded Accounts (Password: Password123!)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Administrator: 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admin@locallens.test (Full control &amp; CSV export)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Volunteer (Rahul): 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volunteer.rahul@locallens.test (Roads, streetlights)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Volunteer (Priya): 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volunteer.priya@locallens.test (Water leaks, drainage)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Volunteer (Arjun): 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volunteer.arjun@locallens.test (Logistics, first aid)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Citizens (Anita &amp; Vikram): 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citizen.anita@locallens.test &amp; citizen.vikram@locallens.test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389120"/>
          </a:xfrm>
          <a:prstGeom prst="rect">
            <a:avLst/>
          </a:prstGeom>
          <a:solidFill>
            <a:srgbClr val="1C2621"/>
          </a:solidFill>
          <a:ln w="12700">
            <a:solidFill>
              <a:srgbClr val="2435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D8BA"/>
                </a:solidFill>
              </a:rPr>
              <a:t>💻 Commands &amp; Team Roles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Execution Commands: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 server &amp;&amp; npm run dev (Backend on Port 5001)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 client &amp;&amp; npm run dev (Frontend on Port 5173)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--prefix server run seed (Seed 8 Users &amp; Reports)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 server/scripts/testAuthAndTeam.js (Run Tests)
</a:t>
            </a:r>
            <a:pPr indent="0" marL="0">
              <a:buNone/>
            </a:pPr>
            <a:r>
              <a:rPr lang="en-US" sz="1000" b="1" dirty="0">
                <a:solidFill>
                  <a:srgbClr val="C49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Engineering Team: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Gopal Ainapurapu: Full-Stack &amp; Database Engineering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Paavan Thota: Architecture, Security &amp; Socket.IO
</a:t>
            </a:r>
            <a:pPr indent="0" marL="0">
              <a:buNone/>
            </a:pPr>
            <a:r>
              <a:rPr lang="en-US" sz="1000" dirty="0">
                <a:solidFill>
                  <a:srgbClr val="E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Sri Charan Sangem: Frontend UI/UX &amp; Geospatial Mapping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2026-10-25T07:33:46Z</dcterms:created>
  <dcterms:modified xsi:type="dcterms:W3CDTF">2026-10-25T07:33:46Z</dcterms:modified>
</cp:coreProperties>
</file>